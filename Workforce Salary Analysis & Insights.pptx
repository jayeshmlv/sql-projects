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8" r:id="rId6"/>
    <p:sldId id="261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7" y="2395728"/>
            <a:ext cx="8583845" cy="1243584"/>
          </a:xfrm>
        </p:spPr>
        <p:txBody>
          <a:bodyPr/>
          <a:lstStyle/>
          <a:p>
            <a:r>
              <a:rPr lang="en-IN" sz="4400" dirty="0"/>
              <a:t>Workforce Salary Analysis &amp; Insights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SQL-Based Data Analysis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535531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AEB071-1574-2D81-5FA4-7AD5C2A6D5A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90176" y="1059120"/>
            <a:ext cx="10922747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This project analyzes workforce salary data across different roles, experience levels, and locations.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 Objective is to extract meaningful insights using SQL queries.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 Focus areas: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Salary trends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Remote work adoption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Role-based salary differences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Career growth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68871CFC-E613-9CE9-B007-4582DCA24A5E}"/>
              </a:ext>
            </a:extLst>
          </p:cNvPr>
          <p:cNvSpPr txBox="1">
            <a:spLocks/>
          </p:cNvSpPr>
          <p:nvPr/>
        </p:nvSpPr>
        <p:spPr>
          <a:xfrm>
            <a:off x="444500" y="3795014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Objectives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C8AB9F8-89DB-6A54-473F-8C4349BC1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51" y="4174449"/>
            <a:ext cx="83371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Analyze salary distribution across roles and experience levels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Identify high-paying countries and job roles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Study salary growth trends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Evaluate remote work adoption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Provide career transition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151" y="1644218"/>
            <a:ext cx="4961218" cy="535531"/>
          </a:xfrm>
        </p:spPr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77582" y="2505075"/>
            <a:ext cx="5157787" cy="3684588"/>
          </a:xfrm>
        </p:spPr>
        <p:txBody>
          <a:bodyPr/>
          <a:lstStyle/>
          <a:p>
            <a:r>
              <a:rPr lang="en-US" dirty="0"/>
              <a:t>Dataset contains workforce-related information:</a:t>
            </a:r>
          </a:p>
          <a:p>
            <a:r>
              <a:rPr lang="en-US" dirty="0"/>
              <a:t>Job Title </a:t>
            </a:r>
          </a:p>
          <a:p>
            <a:r>
              <a:rPr lang="en-US" dirty="0"/>
              <a:t>Experience Level </a:t>
            </a:r>
          </a:p>
          <a:p>
            <a:r>
              <a:rPr lang="en-US" dirty="0"/>
              <a:t>Salary (USD) </a:t>
            </a:r>
          </a:p>
          <a:p>
            <a:r>
              <a:rPr lang="en-US" dirty="0"/>
              <a:t>Company Location </a:t>
            </a:r>
          </a:p>
          <a:p>
            <a:r>
              <a:rPr lang="en-US" dirty="0"/>
              <a:t>Employment Type </a:t>
            </a:r>
          </a:p>
          <a:p>
            <a:r>
              <a:rPr lang="en-US" dirty="0"/>
              <a:t>Remote Ratio </a:t>
            </a:r>
          </a:p>
          <a:p>
            <a:r>
              <a:rPr lang="en-US" dirty="0"/>
              <a:t>Work Year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r>
              <a:rPr lang="en-US" dirty="0"/>
              <a:t>Data imported into MySQL </a:t>
            </a:r>
          </a:p>
          <a:p>
            <a:r>
              <a:rPr lang="en-US" dirty="0"/>
              <a:t>Data cleaning and structuring </a:t>
            </a:r>
          </a:p>
          <a:p>
            <a:r>
              <a:rPr lang="en-US" dirty="0"/>
              <a:t>SQL queries used: </a:t>
            </a:r>
          </a:p>
          <a:p>
            <a:pPr lvl="1"/>
            <a:r>
              <a:rPr lang="en-US" dirty="0"/>
              <a:t>Aggregation (AVG, COUNT) </a:t>
            </a:r>
          </a:p>
          <a:p>
            <a:pPr lvl="1"/>
            <a:r>
              <a:rPr lang="en-US" dirty="0"/>
              <a:t>Filtering (WHERE, HAVING) </a:t>
            </a:r>
          </a:p>
          <a:p>
            <a:pPr lvl="1"/>
            <a:r>
              <a:rPr lang="en-US" dirty="0"/>
              <a:t>Joins </a:t>
            </a:r>
          </a:p>
          <a:p>
            <a:pPr lvl="1"/>
            <a:r>
              <a:rPr lang="en-US" dirty="0"/>
              <a:t>CTEs </a:t>
            </a:r>
          </a:p>
          <a:p>
            <a:pPr lvl="1"/>
            <a:r>
              <a:rPr lang="en-US" dirty="0"/>
              <a:t>Window Functions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F0D1736E-73E8-C42E-BF92-011B4E21312F}"/>
              </a:ext>
            </a:extLst>
          </p:cNvPr>
          <p:cNvSpPr txBox="1">
            <a:spLocks/>
          </p:cNvSpPr>
          <p:nvPr/>
        </p:nvSpPr>
        <p:spPr>
          <a:xfrm>
            <a:off x="6586397" y="1639073"/>
            <a:ext cx="4961218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Queries 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B494-6AA3-C097-EC2F-99E07D7A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6E5924-A2DB-9D03-BF4B-10852C81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569C93-4D2E-DBCD-D4D7-094755F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D9A705-453E-3122-56D0-986D048FB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" y="2324004"/>
            <a:ext cx="10996613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1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0CA6-3EDD-FBF7-1BEC-4A8C3EFA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BC661E-94EA-3129-0449-3C705D52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Task2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05A016-0B7A-44D4-3D43-360E15B1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B8E77-8878-AF1E-ED24-6A7FF58C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81" y="1573369"/>
            <a:ext cx="8276037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2EE2-A4D5-9906-D924-855945EE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2EC417-9E4E-0587-2233-4AD86265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Task3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57F3B5-4F47-E839-A9CF-5C5525A9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12967-5461-02A8-2CE1-AE61461C5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90" y="1600041"/>
            <a:ext cx="7605419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1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A602-37EA-189D-E3C8-04F0CE9F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8D1EBC-ED9E-B1C2-5140-5FDA94DD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Task4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8D82A-CB86-AABA-4431-BC3C13A4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8E05B-0A4C-9D14-EF4C-40554EEBD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9" y="986578"/>
            <a:ext cx="9015241" cy="48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4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1979-BBAD-0475-94EB-5D887CDC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0A4365-ECF8-BEA0-3655-6D4A3D553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Task5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F5ADF-B86E-7FDB-F32E-48701B77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9A1F18-6E9F-1FF8-FBF8-BAFE1C83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93" y="448561"/>
            <a:ext cx="7970613" cy="38155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3EC2EF-E8AE-1911-4127-5BBF3EFF5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693" y="4348209"/>
            <a:ext cx="7970613" cy="213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0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9188-0997-EAA1-B0B3-EC386D68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BE0B8C-48AA-4274-C882-D885F15E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Task6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1C7A3-FB0B-2076-31D4-979A7412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DB3F4-0824-0BAF-C56E-71078FCFB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13" y="360363"/>
            <a:ext cx="6755739" cy="3795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804F2-DA37-67C1-32B9-C3EFC055C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013" y="4218152"/>
            <a:ext cx="6755739" cy="232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3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53ED-6244-4A44-7D62-5FB5613A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D098D0-FBF5-BCB5-5910-7B48C025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Task7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BEEAB-F2A1-4CC4-0325-294F9B1E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452AC-46E2-6A7B-BD0A-5EA3A285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77" y="2731709"/>
            <a:ext cx="8131245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EAD3-14FA-CD68-D98F-76E81258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1711C8-2545-4A53-AD86-B544CDD6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Task8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638AD5-7254-EE6A-02D1-3252639F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0EACC-10A7-63DF-9816-0B61E21E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904868"/>
            <a:ext cx="10646063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1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99DA-E504-FD6C-E222-E75E8F34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FB7642-7032-E110-304A-7BDA16D0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Task9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8D946-5773-4F13-A97D-68A89E2B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60D6C-ED8E-2B91-94E9-15D62522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29" y="718330"/>
            <a:ext cx="6691725" cy="4015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2F50AF-99EA-DAF4-3FA9-B9043018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529" y="4866326"/>
            <a:ext cx="6691725" cy="135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6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E6B7-6D9E-984F-1489-63B87278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096568-BF97-2771-738B-D76A2BE8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Task10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33C5D0-D82C-7F7E-455F-20A9FDC0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84EA1-FAAD-7286-738F-EE59F862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07" y="2373538"/>
            <a:ext cx="9068586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1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D266-A398-598C-1BB8-B29374DE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7C3B2D-7C86-78C4-0941-F7F3BC2A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Task12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F17C6-7489-356F-9314-D4E50F95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D86C05-648D-E8E1-60A2-C80556999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64" y="1925450"/>
            <a:ext cx="6049472" cy="30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EFAB-4442-1FA9-C358-F621210B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D49FBF-4F69-78A4-C6FC-7ED6A75C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Task13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7FFAC6-9688-8BC3-4443-81EE6F9C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29BDD-896C-790E-17D6-109FB106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4" y="2769813"/>
            <a:ext cx="11674852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1277-61D8-DB43-57B3-DF0C015B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97ACA1-445F-E653-FDC0-03F315A3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Task14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DDB942-3D9C-78C7-93D3-DA630868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F9DC1-CD8B-EE55-7050-8A5A4BD17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03" y="2198263"/>
            <a:ext cx="8702794" cy="2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356A-A9D8-E914-C4F2-5E1BBA2B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BCDD0E-F6E1-9D6B-FA5F-468EE0AE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Task15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41338F-836C-19E5-07C9-8B2641A2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06E69-02C6-71F5-61FA-65DCC7440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1005630"/>
            <a:ext cx="6950042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9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16E7-FCFA-2EBC-471B-5B5C1A75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37AA80-9182-1DF0-27E7-FE817923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Task16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F929E-622F-6792-223A-D81A3AA8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9EB51-1FF6-0196-67D8-546FA01B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87" y="542925"/>
            <a:ext cx="6172524" cy="3634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78FC1F-7649-01D1-E33C-C076BEC3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287" y="4253778"/>
            <a:ext cx="6172523" cy="20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5B4B-5E23-E1B9-B0CD-4D4489A7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0DBFF3-E5DB-A7CF-6BC1-A297BCFD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Task17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64F1A5-492A-98AA-585A-61AB27FD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3007B-EAAE-1ABE-04BB-E307B9CD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918" y="763284"/>
            <a:ext cx="6485263" cy="3470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DE3BC0-4093-60AA-38B5-A790284E1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918" y="4233305"/>
            <a:ext cx="6485263" cy="170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53AA-CE9D-536C-E4D0-08362630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1077AB-2DDC-96D7-8977-C04D5014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41174"/>
            <a:ext cx="11214100" cy="369332"/>
          </a:xfrm>
        </p:spPr>
        <p:txBody>
          <a:bodyPr/>
          <a:lstStyle/>
          <a:p>
            <a:r>
              <a:rPr lang="en-IN" sz="2000" dirty="0"/>
              <a:t>Task18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1E0A9-C740-9081-C00F-0FD699FE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922CB-A052-6959-8391-308937ED5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892" y="434986"/>
            <a:ext cx="5703579" cy="30746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B321E-8227-DB69-276B-540689F15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34"/>
          <a:stretch>
            <a:fillRect/>
          </a:stretch>
        </p:blipFill>
        <p:spPr>
          <a:xfrm>
            <a:off x="2812892" y="3579121"/>
            <a:ext cx="5703578" cy="29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3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7A64-9DC8-34BC-3226-D48D3605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E51D1-DB6F-105B-9544-153190018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457" y="2190077"/>
            <a:ext cx="9979585" cy="373111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+mj-lt"/>
              </a:rPr>
              <a:t>Salaries increase with experience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+mj-lt"/>
              </a:rPr>
              <a:t>Remote work is rapidly growing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+mj-lt"/>
              </a:rPr>
              <a:t>AI/ML roles offer highest salaries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+mj-lt"/>
              </a:rPr>
              <a:t>Certain countries dominate high compensation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+mj-lt"/>
              </a:rPr>
              <a:t>Entry-level roles show strong growth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7CFC5-494F-EBAC-DFBD-396DF290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57" y="936812"/>
            <a:ext cx="7781544" cy="859055"/>
          </a:xfrm>
        </p:spPr>
        <p:txBody>
          <a:bodyPr>
            <a:noAutofit/>
          </a:bodyPr>
          <a:lstStyle/>
          <a:p>
            <a:r>
              <a:rPr lang="en-IN" sz="3600" dirty="0"/>
              <a:t>Key Insights &amp; Conclusions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508211885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42</TotalTime>
  <Words>210</Words>
  <Application>Microsoft Office PowerPoint</Application>
  <PresentationFormat>Widescreen</PresentationFormat>
  <Paragraphs>80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Trade Gothic LT Pro</vt:lpstr>
      <vt:lpstr>Trebuchet MS</vt:lpstr>
      <vt:lpstr>Wingdings</vt:lpstr>
      <vt:lpstr>Office Theme</vt:lpstr>
      <vt:lpstr>Workforce Salary Analysis &amp; Insights</vt:lpstr>
      <vt:lpstr>Introduction</vt:lpstr>
      <vt:lpstr>Dataset Overview</vt:lpstr>
      <vt:lpstr>SQL Queries &gt;</vt:lpstr>
      <vt:lpstr>Task1</vt:lpstr>
      <vt:lpstr>Task2</vt:lpstr>
      <vt:lpstr>Task3</vt:lpstr>
      <vt:lpstr>Task4</vt:lpstr>
      <vt:lpstr>Task5</vt:lpstr>
      <vt:lpstr>Task6</vt:lpstr>
      <vt:lpstr>Task7</vt:lpstr>
      <vt:lpstr>Task8</vt:lpstr>
      <vt:lpstr>Task9</vt:lpstr>
      <vt:lpstr>Task10</vt:lpstr>
      <vt:lpstr>Task12</vt:lpstr>
      <vt:lpstr>Task13</vt:lpstr>
      <vt:lpstr>Task14</vt:lpstr>
      <vt:lpstr>Task15</vt:lpstr>
      <vt:lpstr>Task16</vt:lpstr>
      <vt:lpstr>Task17</vt:lpstr>
      <vt:lpstr>Task18</vt:lpstr>
      <vt:lpstr>Key Insights &amp; Conclusions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1</cp:revision>
  <dcterms:created xsi:type="dcterms:W3CDTF">2026-03-23T07:14:53Z</dcterms:created>
  <dcterms:modified xsi:type="dcterms:W3CDTF">2026-03-23T08:05:41Z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